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9" r:id="rId3"/>
    <p:sldId id="288" r:id="rId4"/>
    <p:sldId id="285" r:id="rId5"/>
    <p:sldId id="286" r:id="rId6"/>
    <p:sldId id="287" r:id="rId7"/>
    <p:sldId id="257" r:id="rId8"/>
    <p:sldId id="283" r:id="rId9"/>
    <p:sldId id="282" r:id="rId10"/>
    <p:sldId id="258" r:id="rId11"/>
    <p:sldId id="260" r:id="rId12"/>
    <p:sldId id="262" r:id="rId13"/>
    <p:sldId id="263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90" d="100"/>
          <a:sy n="90" d="100"/>
        </p:scale>
        <p:origin x="370" y="-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214CEF6-9782-BA06-DC8E-5E7D7D1532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2130425"/>
            <a:ext cx="10748913" cy="1470025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chemeClr val="bg1"/>
                </a:solidFill>
              </a:rPr>
              <a:t>MODERN ANDROID DEVELOPMENT – 6 DAYS WORKSHOP </a:t>
            </a:r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79D8F366-DFB9-9B98-2C63-1514DBE5AC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599" y="3886200"/>
            <a:ext cx="9808591" cy="1779309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IN" sz="3000" dirty="0">
                <a:solidFill>
                  <a:schemeClr val="bg1"/>
                </a:solidFill>
              </a:rPr>
              <a:t>FDP – LOVELY PROFESSIONAL UNIVERSITY</a:t>
            </a:r>
          </a:p>
          <a:p>
            <a:r>
              <a:rPr lang="en-IN" sz="1800" dirty="0">
                <a:solidFill>
                  <a:schemeClr val="bg1"/>
                </a:solidFill>
              </a:rPr>
              <a:t> TRAINER – TANISHQ SATSANGI </a:t>
            </a:r>
          </a:p>
          <a:p>
            <a:r>
              <a:rPr lang="en-IN" sz="1800" dirty="0">
                <a:solidFill>
                  <a:schemeClr val="bg1"/>
                </a:solidFill>
              </a:rPr>
              <a:t>SENIOR ANDROID DEVELOPER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880D34-6ABB-1545-1479-06E8F1843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2202EEC-EDC4-BCBF-FE20-CF32280F46EC}"/>
              </a:ext>
            </a:extLst>
          </p:cNvPr>
          <p:cNvSpPr txBox="1"/>
          <p:nvPr/>
        </p:nvSpPr>
        <p:spPr>
          <a:xfrm>
            <a:off x="480767" y="433633"/>
            <a:ext cx="235994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ABOUT ME 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F5A6DD-44BB-F437-32FD-78DE536B8B80}"/>
              </a:ext>
            </a:extLst>
          </p:cNvPr>
          <p:cNvSpPr txBox="1"/>
          <p:nvPr/>
        </p:nvSpPr>
        <p:spPr>
          <a:xfrm>
            <a:off x="263951" y="1941922"/>
            <a:ext cx="11340445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/>
            </a:pPr>
            <a:r>
              <a:rPr lang="en-US" dirty="0">
                <a:solidFill>
                  <a:schemeClr val="bg1"/>
                </a:solidFill>
              </a:rPr>
              <a:t>6 YEARS ANDROID DEVELOPMENT EXPERIENCE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/>
            </a:pPr>
            <a:r>
              <a:rPr lang="en-US" dirty="0">
                <a:solidFill>
                  <a:schemeClr val="bg1"/>
                </a:solidFill>
              </a:rPr>
              <a:t>EXPERTISE IN LEADING TEAMS AND COMPLETE SDLC FOR MOBILE APPS.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/>
            </a:pPr>
            <a:r>
              <a:rPr lang="en-US" dirty="0">
                <a:solidFill>
                  <a:schemeClr val="bg1"/>
                </a:solidFill>
              </a:rPr>
              <a:t>DEPLOYMED MULTIPLE APPS AND SDK(S) TO GOOGLE PLAY STORE.</a:t>
            </a:r>
          </a:p>
          <a:p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BC656851-92A7-DC4F-1217-D0ADBB7B1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1574" y="5910606"/>
            <a:ext cx="3412503" cy="461167"/>
          </a:xfrm>
        </p:spPr>
        <p:txBody>
          <a:bodyPr>
            <a:normAutofit/>
          </a:bodyPr>
          <a:lstStyle/>
          <a:p>
            <a:r>
              <a:rPr lang="en-IN" sz="1800" dirty="0">
                <a:solidFill>
                  <a:schemeClr val="bg1"/>
                </a:solidFill>
              </a:rPr>
              <a:t>TRAINER- TANISHQ SATSANGI </a:t>
            </a:r>
          </a:p>
        </p:txBody>
      </p:sp>
    </p:spTree>
    <p:extLst>
      <p:ext uri="{BB962C8B-B14F-4D97-AF65-F5344CB8AC3E}">
        <p14:creationId xmlns:p14="http://schemas.microsoft.com/office/powerpoint/2010/main" val="1755512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772246-0B58-767D-2D33-1C3F704E2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DBA0626-C055-3655-B5B8-93B26258A883}"/>
              </a:ext>
            </a:extLst>
          </p:cNvPr>
          <p:cNvSpPr txBox="1"/>
          <p:nvPr/>
        </p:nvSpPr>
        <p:spPr>
          <a:xfrm>
            <a:off x="480767" y="433633"/>
            <a:ext cx="110566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Advanced FDP: Modern Android Development Framework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27D9F4-2192-016F-1B70-8DC1357D4076}"/>
              </a:ext>
            </a:extLst>
          </p:cNvPr>
          <p:cNvSpPr txBox="1"/>
          <p:nvPr/>
        </p:nvSpPr>
        <p:spPr>
          <a:xfrm>
            <a:off x="263951" y="1941922"/>
            <a:ext cx="11340445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/>
            </a:pPr>
            <a:r>
              <a:rPr lang="en-US" dirty="0">
                <a:solidFill>
                  <a:schemeClr val="bg1"/>
                </a:solidFill>
              </a:rPr>
              <a:t>Goal: Learn modern Android by building real applications.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/>
            </a:pPr>
            <a:r>
              <a:rPr lang="en-US" dirty="0">
                <a:solidFill>
                  <a:schemeClr val="bg1"/>
                </a:solidFill>
              </a:rPr>
              <a:t>Outcome: Become confident with modern Android development and industry practices.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/>
            </a:pPr>
            <a:r>
              <a:rPr lang="en-US" dirty="0">
                <a:solidFill>
                  <a:schemeClr val="bg1"/>
                </a:solidFill>
              </a:rPr>
              <a:t>6-Day Hands-on Faculty Development Program</a:t>
            </a:r>
          </a:p>
          <a:p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4B2AF64-A457-E1EE-AAD6-72BD1F64F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1574" y="5910606"/>
            <a:ext cx="3412503" cy="461167"/>
          </a:xfrm>
        </p:spPr>
        <p:txBody>
          <a:bodyPr>
            <a:normAutofit/>
          </a:bodyPr>
          <a:lstStyle/>
          <a:p>
            <a:r>
              <a:rPr lang="en-IN" sz="1800" dirty="0">
                <a:solidFill>
                  <a:schemeClr val="bg1"/>
                </a:solidFill>
              </a:rPr>
              <a:t>TRAINER- TANISHQ SATSANGI </a:t>
            </a:r>
          </a:p>
        </p:txBody>
      </p:sp>
    </p:spTree>
    <p:extLst>
      <p:ext uri="{BB962C8B-B14F-4D97-AF65-F5344CB8AC3E}">
        <p14:creationId xmlns:p14="http://schemas.microsoft.com/office/powerpoint/2010/main" val="1052878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082CBA-AB19-A2A3-BFF7-AAD2381F6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7CB411D-6D92-31D5-701A-1A194CCA6F50}"/>
              </a:ext>
            </a:extLst>
          </p:cNvPr>
          <p:cNvSpPr txBox="1"/>
          <p:nvPr/>
        </p:nvSpPr>
        <p:spPr>
          <a:xfrm>
            <a:off x="480766" y="433633"/>
            <a:ext cx="43928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800" b="1"/>
            </a:pPr>
            <a:r>
              <a:rPr lang="en-IN" sz="3600" dirty="0">
                <a:solidFill>
                  <a:schemeClr val="bg1"/>
                </a:solidFill>
              </a:rPr>
              <a:t>Workshop Outcomes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2BF0EF-8D2D-F297-E49C-1FA4C1D42759}"/>
              </a:ext>
            </a:extLst>
          </p:cNvPr>
          <p:cNvSpPr txBox="1"/>
          <p:nvPr/>
        </p:nvSpPr>
        <p:spPr>
          <a:xfrm>
            <a:off x="263951" y="1941922"/>
            <a:ext cx="11340445" cy="3913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 sz="2000"/>
            </a:pPr>
            <a:r>
              <a:rPr lang="en-US" sz="2400" dirty="0">
                <a:solidFill>
                  <a:schemeClr val="bg1"/>
                </a:solidFill>
              </a:rPr>
              <a:t>• Kotlin fundamentals to advanced concepts</a:t>
            </a:r>
          </a:p>
          <a:p>
            <a:pPr>
              <a:lnSpc>
                <a:spcPct val="150000"/>
              </a:lnSpc>
              <a:defRPr sz="2000"/>
            </a:pPr>
            <a:r>
              <a:rPr lang="en-US" sz="2400" dirty="0">
                <a:solidFill>
                  <a:schemeClr val="bg1"/>
                </a:solidFill>
              </a:rPr>
              <a:t>• Jetpack Compose and Material 3</a:t>
            </a:r>
          </a:p>
          <a:p>
            <a:pPr>
              <a:lnSpc>
                <a:spcPct val="150000"/>
              </a:lnSpc>
              <a:defRPr sz="2000"/>
            </a:pPr>
            <a:r>
              <a:rPr lang="en-US" sz="2400" dirty="0">
                <a:solidFill>
                  <a:schemeClr val="bg1"/>
                </a:solidFill>
              </a:rPr>
              <a:t>• MVVM, Repository Pattern and SOLID</a:t>
            </a:r>
          </a:p>
          <a:p>
            <a:pPr>
              <a:lnSpc>
                <a:spcPct val="150000"/>
              </a:lnSpc>
              <a:defRPr sz="2000"/>
            </a:pPr>
            <a:r>
              <a:rPr lang="en-US" sz="2400" dirty="0">
                <a:solidFill>
                  <a:schemeClr val="bg1"/>
                </a:solidFill>
              </a:rPr>
              <a:t>• Coroutines, Flow and State Flow</a:t>
            </a:r>
          </a:p>
          <a:p>
            <a:pPr>
              <a:lnSpc>
                <a:spcPct val="150000"/>
              </a:lnSpc>
              <a:defRPr sz="2000"/>
            </a:pPr>
            <a:r>
              <a:rPr lang="en-US" sz="2400" dirty="0">
                <a:solidFill>
                  <a:schemeClr val="bg1"/>
                </a:solidFill>
              </a:rPr>
              <a:t>• Room, Datastore and Firebase</a:t>
            </a:r>
          </a:p>
          <a:p>
            <a:pPr>
              <a:lnSpc>
                <a:spcPct val="150000"/>
              </a:lnSpc>
              <a:defRPr sz="2000"/>
            </a:pPr>
            <a:r>
              <a:rPr lang="en-US" sz="2400" dirty="0">
                <a:solidFill>
                  <a:schemeClr val="bg1"/>
                </a:solidFill>
              </a:rPr>
              <a:t>• Industry architecture and clean coding</a:t>
            </a:r>
          </a:p>
          <a:p>
            <a:pPr>
              <a:lnSpc>
                <a:spcPct val="150000"/>
              </a:lnSpc>
              <a:defRPr sz="2000"/>
            </a:pPr>
            <a:r>
              <a:rPr lang="en-US" sz="2400" dirty="0">
                <a:solidFill>
                  <a:schemeClr val="bg1"/>
                </a:solidFill>
              </a:rPr>
              <a:t>• AI-assisted Android development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D48EE26C-582A-65FB-2EEA-2643E0D50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1574" y="5910606"/>
            <a:ext cx="3412503" cy="461167"/>
          </a:xfrm>
        </p:spPr>
        <p:txBody>
          <a:bodyPr>
            <a:normAutofit/>
          </a:bodyPr>
          <a:lstStyle/>
          <a:p>
            <a:r>
              <a:rPr lang="en-IN" sz="1800" dirty="0">
                <a:solidFill>
                  <a:schemeClr val="bg1"/>
                </a:solidFill>
              </a:rPr>
              <a:t>TRAINER- TANISHQ SATSANGI </a:t>
            </a:r>
          </a:p>
        </p:txBody>
      </p:sp>
    </p:spTree>
    <p:extLst>
      <p:ext uri="{BB962C8B-B14F-4D97-AF65-F5344CB8AC3E}">
        <p14:creationId xmlns:p14="http://schemas.microsoft.com/office/powerpoint/2010/main" val="3959660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12C5CA-2D81-F581-2B41-8A1C62500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F04091-D15D-1D48-2B92-9089FD5B41BE}"/>
              </a:ext>
            </a:extLst>
          </p:cNvPr>
          <p:cNvSpPr txBox="1"/>
          <p:nvPr/>
        </p:nvSpPr>
        <p:spPr>
          <a:xfrm>
            <a:off x="876692" y="541354"/>
            <a:ext cx="43928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800" b="1"/>
            </a:pPr>
            <a:r>
              <a:rPr lang="en-IN" sz="3600" dirty="0">
                <a:solidFill>
                  <a:schemeClr val="bg1"/>
                </a:solidFill>
              </a:rPr>
              <a:t>Learning Flow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C3FA03-6443-7154-DC68-5101DC9E1D20}"/>
              </a:ext>
            </a:extLst>
          </p:cNvPr>
          <p:cNvSpPr txBox="1"/>
          <p:nvPr/>
        </p:nvSpPr>
        <p:spPr>
          <a:xfrm>
            <a:off x="263951" y="1941922"/>
            <a:ext cx="11340445" cy="3913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 sz="2000"/>
            </a:pPr>
            <a:r>
              <a:rPr lang="en-US" sz="2400" dirty="0">
                <a:solidFill>
                  <a:schemeClr val="bg1"/>
                </a:solidFill>
              </a:rPr>
              <a:t> Day 1–2: Kotlin, Android, Compose and Architecture, Basics</a:t>
            </a:r>
          </a:p>
          <a:p>
            <a:pPr>
              <a:lnSpc>
                <a:spcPct val="150000"/>
              </a:lnSpc>
              <a:defRPr sz="2000"/>
            </a:pPr>
            <a:r>
              <a:rPr lang="en-US" sz="2400" dirty="0">
                <a:solidFill>
                  <a:schemeClr val="bg1"/>
                </a:solidFill>
              </a:rPr>
              <a:t>Day 3: Coroutines, Flow and State Flow</a:t>
            </a:r>
          </a:p>
          <a:p>
            <a:pPr>
              <a:lnSpc>
                <a:spcPct val="150000"/>
              </a:lnSpc>
              <a:defRPr sz="2000"/>
            </a:pPr>
            <a:r>
              <a:rPr lang="en-US" sz="2400" dirty="0">
                <a:solidFill>
                  <a:schemeClr val="bg1"/>
                </a:solidFill>
              </a:rPr>
              <a:t>Day 4: Advanced Compose</a:t>
            </a:r>
          </a:p>
          <a:p>
            <a:pPr>
              <a:lnSpc>
                <a:spcPct val="150000"/>
              </a:lnSpc>
              <a:defRPr sz="2000"/>
            </a:pPr>
            <a:r>
              <a:rPr lang="en-US" sz="2400" dirty="0">
                <a:solidFill>
                  <a:schemeClr val="bg1"/>
                </a:solidFill>
              </a:rPr>
              <a:t>Day 5: Room, Firebase and Work Manager</a:t>
            </a:r>
          </a:p>
          <a:p>
            <a:pPr>
              <a:lnSpc>
                <a:spcPct val="150000"/>
              </a:lnSpc>
              <a:defRPr sz="2000"/>
            </a:pPr>
            <a:r>
              <a:rPr lang="en-US" sz="2400" dirty="0">
                <a:solidFill>
                  <a:schemeClr val="bg1"/>
                </a:solidFill>
              </a:rPr>
              <a:t>Day 6: Testing, DI concepts, Release and AI Tools</a:t>
            </a:r>
          </a:p>
          <a:p>
            <a:pPr>
              <a:lnSpc>
                <a:spcPct val="150000"/>
              </a:lnSpc>
              <a:defRPr sz="2000"/>
            </a:pPr>
            <a:endParaRPr lang="en-US" sz="2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defRPr sz="2000"/>
            </a:pPr>
            <a:r>
              <a:rPr lang="en-US" sz="2400" dirty="0">
                <a:solidFill>
                  <a:schemeClr val="bg1"/>
                </a:solidFill>
              </a:rPr>
              <a:t>Every concept is immediately implemented in the running projects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B87C2CFA-4375-9590-A781-24C6FD9BB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1574" y="5910606"/>
            <a:ext cx="3412503" cy="461167"/>
          </a:xfrm>
        </p:spPr>
        <p:txBody>
          <a:bodyPr>
            <a:normAutofit/>
          </a:bodyPr>
          <a:lstStyle/>
          <a:p>
            <a:r>
              <a:rPr lang="en-IN" sz="1800" dirty="0">
                <a:solidFill>
                  <a:schemeClr val="bg1"/>
                </a:solidFill>
              </a:rPr>
              <a:t>TRAINER- TANISHQ SATSANGI </a:t>
            </a:r>
          </a:p>
        </p:txBody>
      </p:sp>
    </p:spTree>
    <p:extLst>
      <p:ext uri="{BB962C8B-B14F-4D97-AF65-F5344CB8AC3E}">
        <p14:creationId xmlns:p14="http://schemas.microsoft.com/office/powerpoint/2010/main" val="1008914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A9E0A2-AE4D-3B56-CC5B-DF5B67310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DCC8AA-2C69-9636-C503-9F879B0030BD}"/>
              </a:ext>
            </a:extLst>
          </p:cNvPr>
          <p:cNvSpPr txBox="1"/>
          <p:nvPr/>
        </p:nvSpPr>
        <p:spPr>
          <a:xfrm>
            <a:off x="876692" y="541354"/>
            <a:ext cx="54298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800" b="1"/>
            </a:pPr>
            <a:r>
              <a:rPr lang="en-IN" sz="3600" dirty="0">
                <a:solidFill>
                  <a:schemeClr val="bg1"/>
                </a:solidFill>
              </a:rPr>
              <a:t>Projects and Capstone</a:t>
            </a:r>
          </a:p>
          <a:p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33451DC3-6FA2-0FD2-8BE5-817A31F7D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1574" y="5910606"/>
            <a:ext cx="3412503" cy="461167"/>
          </a:xfrm>
        </p:spPr>
        <p:txBody>
          <a:bodyPr>
            <a:normAutofit/>
          </a:bodyPr>
          <a:lstStyle/>
          <a:p>
            <a:r>
              <a:rPr lang="en-IN" sz="1800" dirty="0">
                <a:solidFill>
                  <a:schemeClr val="bg1"/>
                </a:solidFill>
              </a:rPr>
              <a:t>TRAINER- TANISHQ SATSANGI </a:t>
            </a:r>
          </a:p>
        </p:txBody>
      </p:sp>
      <p:sp>
        <p:nvSpPr>
          <p:cNvPr id="2" name="Rounded Rectangle 2">
            <a:extLst>
              <a:ext uri="{FF2B5EF4-FFF2-40B4-BE49-F238E27FC236}">
                <a16:creationId xmlns:a16="http://schemas.microsoft.com/office/drawing/2014/main" id="{CE0016EA-BCA2-E777-D209-7792B92E0F1E}"/>
              </a:ext>
            </a:extLst>
          </p:cNvPr>
          <p:cNvSpPr/>
          <p:nvPr/>
        </p:nvSpPr>
        <p:spPr>
          <a:xfrm>
            <a:off x="655320" y="1417320"/>
            <a:ext cx="3383280" cy="4023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200" b="1"/>
            </a:pPr>
            <a:r>
              <a:t>Project 1</a:t>
            </a:r>
          </a:p>
          <a:p>
            <a:pPr>
              <a:defRPr sz="1800"/>
            </a:pPr>
            <a:r>
              <a:t>Todo App</a:t>
            </a:r>
            <a:br/>
            <a:r>
              <a:t>Authentication</a:t>
            </a:r>
            <a:br/>
            <a:r>
              <a:t>CRUD</a:t>
            </a:r>
            <a:br/>
            <a:r>
              <a:t>Room</a:t>
            </a:r>
            <a:br/>
            <a:r>
              <a:t>Firestore</a:t>
            </a:r>
          </a:p>
        </p:txBody>
      </p:sp>
      <p:sp>
        <p:nvSpPr>
          <p:cNvPr id="3" name="Rounded Rectangle 3">
            <a:extLst>
              <a:ext uri="{FF2B5EF4-FFF2-40B4-BE49-F238E27FC236}">
                <a16:creationId xmlns:a16="http://schemas.microsoft.com/office/drawing/2014/main" id="{9D468B83-9B45-35B8-308D-5DFBF4F2C753}"/>
              </a:ext>
            </a:extLst>
          </p:cNvPr>
          <p:cNvSpPr/>
          <p:nvPr/>
        </p:nvSpPr>
        <p:spPr>
          <a:xfrm>
            <a:off x="4404359" y="1417320"/>
            <a:ext cx="3383280" cy="4023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200" b="1"/>
            </a:pPr>
            <a:r>
              <a:t>Project 2</a:t>
            </a:r>
          </a:p>
          <a:p>
            <a:pPr>
              <a:defRPr sz="1800"/>
            </a:pPr>
            <a:r>
              <a:t>Realtime Chat</a:t>
            </a:r>
            <a:br/>
            <a:r>
              <a:t>Authentication</a:t>
            </a:r>
            <a:br/>
            <a:r>
              <a:t>Messaging</a:t>
            </a:r>
            <a:br/>
            <a:r>
              <a:t>Firestore</a:t>
            </a: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D7BE210C-126B-8642-CD5C-E8616FF18EFE}"/>
              </a:ext>
            </a:extLst>
          </p:cNvPr>
          <p:cNvSpPr/>
          <p:nvPr/>
        </p:nvSpPr>
        <p:spPr>
          <a:xfrm>
            <a:off x="8153399" y="1417320"/>
            <a:ext cx="3383280" cy="4023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200" b="1"/>
            </a:pPr>
            <a:r>
              <a:t>Capstone</a:t>
            </a:r>
          </a:p>
          <a:p>
            <a:pPr>
              <a:defRPr sz="1800"/>
            </a:pPr>
            <a:r>
              <a:t>Extend either application with your own feature and present it.</a:t>
            </a:r>
          </a:p>
        </p:txBody>
      </p:sp>
    </p:spTree>
    <p:extLst>
      <p:ext uri="{BB962C8B-B14F-4D97-AF65-F5344CB8AC3E}">
        <p14:creationId xmlns:p14="http://schemas.microsoft.com/office/powerpoint/2010/main" val="2774440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What We Will Build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D3EE"/>
                </a:solidFill>
              </a:defRPr>
            </a:pPr>
            <a:r>
              <a:t>Learning outcomes for 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881360" cy="4800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F8FAFC"/>
                </a:solidFill>
              </a:defRPr>
            </a:pPr>
            <a:r>
              <a:t>• Understand how Android source code becomes an executable application</a:t>
            </a:r>
          </a:p>
          <a:p>
            <a:pPr>
              <a:spcAft>
                <a:spcPts val="900"/>
              </a:spcAft>
              <a:defRPr sz="1700">
                <a:solidFill>
                  <a:srgbClr val="F8FAFC"/>
                </a:solidFill>
              </a:defRPr>
            </a:pPr>
            <a:r>
              <a:t>• Read and explain the major layers of the Android software stack</a:t>
            </a:r>
          </a:p>
          <a:p>
            <a:pPr>
              <a:spcAft>
                <a:spcPts val="900"/>
              </a:spcAft>
              <a:defRPr sz="1700">
                <a:solidFill>
                  <a:srgbClr val="F8FAFC"/>
                </a:solidFill>
              </a:defRPr>
            </a:pPr>
            <a:r>
              <a:t>• Configure a Gradle-based Android project and understand key build files</a:t>
            </a:r>
          </a:p>
          <a:p>
            <a:pPr>
              <a:spcAft>
                <a:spcPts val="900"/>
              </a:spcAft>
              <a:defRPr sz="1700">
                <a:solidFill>
                  <a:srgbClr val="F8FAFC"/>
                </a:solidFill>
              </a:defRPr>
            </a:pPr>
            <a:r>
              <a:t>• Trace Activity lifecycle callbacks and understand process-related behavior</a:t>
            </a:r>
          </a:p>
          <a:p>
            <a:pPr>
              <a:spcAft>
                <a:spcPts val="900"/>
              </a:spcAft>
              <a:defRPr sz="1700">
                <a:solidFill>
                  <a:srgbClr val="F8FAFC"/>
                </a:solidFill>
              </a:defRPr>
            </a:pPr>
            <a:r>
              <a:t>• Recognize ANR conditions and explain why blocking the main thread is dangerous</a:t>
            </a:r>
          </a:p>
          <a:p>
            <a:pPr>
              <a:spcAft>
                <a:spcPts val="900"/>
              </a:spcAft>
              <a:defRPr sz="1700">
                <a:solidFill>
                  <a:srgbClr val="F8FAFC"/>
                </a:solidFill>
              </a:defRPr>
            </a:pPr>
            <a:r>
              <a:t>• Use higher-order functions, lambdas, extensions, scope functions and generics</a:t>
            </a:r>
          </a:p>
          <a:p>
            <a:pPr>
              <a:spcAft>
                <a:spcPts val="900"/>
              </a:spcAft>
              <a:defRPr sz="1700">
                <a:solidFill>
                  <a:srgbClr val="F8FAFC"/>
                </a:solidFill>
              </a:defRPr>
            </a:pPr>
            <a:r>
              <a:t>• Create a reusable Core Utility module as the end-of-day practical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9C0CA1-6F93-1BB5-6575-81020527F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14DBFD-D8D1-B900-D0C8-CA383E1800FE}"/>
              </a:ext>
            </a:extLst>
          </p:cNvPr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DAY 01 — Android Internals &amp; Advanced Kotlin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7F22F7-456A-9518-B707-4797D76876E0}"/>
              </a:ext>
            </a:extLst>
          </p:cNvPr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D3EE"/>
                </a:solidFill>
              </a:defRPr>
            </a:pPr>
            <a:r>
              <a:t>Faculty Development Program • Lecture + Live Coding + Hands-on Lab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9DDAE26-F831-DA42-0F19-4D04A0E0F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74540"/>
            <a:ext cx="8229600" cy="1172848"/>
          </a:xfrm>
        </p:spPr>
        <p:txBody>
          <a:bodyPr>
            <a:normAutofit/>
          </a:bodyPr>
          <a:lstStyle/>
          <a:p>
            <a:pPr algn="l"/>
            <a:r>
              <a:rPr lang="en-IN" sz="3600" dirty="0">
                <a:solidFill>
                  <a:schemeClr val="bg1"/>
                </a:solidFill>
              </a:rPr>
              <a:t>What Is Android?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7B0B03-FD74-16C6-C3D9-457F5389F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714920"/>
            <a:ext cx="8229600" cy="3411243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Android is an open-source mobile operating system developed by Google,</a:t>
            </a:r>
          </a:p>
          <a:p>
            <a:r>
              <a:rPr lang="en-US" sz="2800" dirty="0">
                <a:solidFill>
                  <a:schemeClr val="bg1"/>
                </a:solidFill>
              </a:rPr>
              <a:t>Built on the Linux kernel.</a:t>
            </a:r>
          </a:p>
          <a:p>
            <a:r>
              <a:rPr lang="en-US" sz="2800" dirty="0">
                <a:solidFill>
                  <a:schemeClr val="bg1"/>
                </a:solidFill>
              </a:rPr>
              <a:t>It provides a complete platform—including system services, APIs, and development tools—for building applications </a:t>
            </a:r>
          </a:p>
          <a:p>
            <a:r>
              <a:rPr lang="en-US" sz="2800" dirty="0">
                <a:solidFill>
                  <a:schemeClr val="bg1"/>
                </a:solidFill>
              </a:rPr>
              <a:t>Smartphones, Tablets, TVs, wearables, automotive systems, and other smart devices</a:t>
            </a:r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3541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0D09E0-AE9A-D5F1-2DCB-0ABF5D9F3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3C92D7-7BE6-D2AB-EDAB-E691EFA302A2}"/>
              </a:ext>
            </a:extLst>
          </p:cNvPr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DAY 01 — Android Internals &amp; Advanced Kotlin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EB3C82-308F-2A15-7C3B-61AE332BD4EB}"/>
              </a:ext>
            </a:extLst>
          </p:cNvPr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D3EE"/>
                </a:solidFill>
              </a:defRPr>
            </a:pPr>
            <a:r>
              <a:t>Faculty Development Program • Lecture + Live Coding + Hands-on Lab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46727F-4AB2-72F9-E570-F0462FBE6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sz="2800" dirty="0">
                <a:solidFill>
                  <a:schemeClr val="bg1"/>
                </a:solidFill>
              </a:rPr>
              <a:t>DEVELOPMENT LANGUAGES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solidFill>
                  <a:schemeClr val="bg1"/>
                </a:solidFill>
              </a:rPr>
              <a:t>Kotlin (UI  - XML /Compose)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solidFill>
                  <a:schemeClr val="bg1"/>
                </a:solidFill>
              </a:rPr>
              <a:t>Flutter 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solidFill>
                  <a:schemeClr val="bg1"/>
                </a:solidFill>
              </a:rPr>
              <a:t>React Native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solidFill>
                  <a:schemeClr val="bg1"/>
                </a:solidFill>
              </a:rPr>
              <a:t>Java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solidFill>
                  <a:schemeClr val="bg1"/>
                </a:solidFill>
              </a:rPr>
              <a:t>KMP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287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Android Software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D3EE"/>
                </a:solidFill>
              </a:defRPr>
            </a:pPr>
            <a:r>
              <a:t>The layers underneath every Android 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234440"/>
            <a:ext cx="10149840" cy="841248"/>
          </a:xfrm>
          <a:prstGeom prst="roundRect">
            <a:avLst/>
          </a:prstGeom>
          <a:solidFill>
            <a:srgbClr val="3B82F6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APPLICATIONS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Your app • System apps • Compose 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167128"/>
            <a:ext cx="10149840" cy="841248"/>
          </a:xfrm>
          <a:prstGeom prst="roundRect">
            <a:avLst/>
          </a:prstGeom>
          <a:solidFill>
            <a:srgbClr val="22D3EE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APPLICATION FRAMEWORK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ActivityManager • WindowManager • PackageManager • Resources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3099816"/>
            <a:ext cx="10149840" cy="841248"/>
          </a:xfrm>
          <a:prstGeom prst="roundRect">
            <a:avLst/>
          </a:prstGeom>
          <a:solidFill>
            <a:srgbClr val="3B82F6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ANDROID RUNTIME + NATIVE LIBRARIES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ART • Core Java/Kotlin APIs • SQLite • Media • SSL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4032504"/>
            <a:ext cx="10149840" cy="841248"/>
          </a:xfrm>
          <a:prstGeom prst="roundRect">
            <a:avLst/>
          </a:prstGeom>
          <a:solidFill>
            <a:srgbClr val="22D3EE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HARDWARE ABSTRACTION LAYER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Camera • Audio • Sensors • Bluetooth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965192"/>
            <a:ext cx="10149840" cy="841248"/>
          </a:xfrm>
          <a:prstGeom prst="roundRect">
            <a:avLst/>
          </a:prstGeom>
          <a:solidFill>
            <a:srgbClr val="3B82F6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LINUX KERNEL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Processes • Memory • Security • Device Drivers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Gradle Build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D3EE"/>
                </a:solidFill>
              </a:defRPr>
            </a:pPr>
            <a:r>
              <a:t>How Android Studio organizes the build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291840" cy="1097280"/>
          </a:xfrm>
          <a:prstGeom prst="roundRect">
            <a:avLst/>
          </a:prstGeom>
          <a:solidFill>
            <a:srgbClr val="18243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settings.gradle.kts</a:t>
            </a:r>
          </a:p>
          <a:p>
            <a:pPr>
              <a:defRPr sz="1200">
                <a:solidFill>
                  <a:srgbClr val="B4BECD"/>
                </a:solidFill>
              </a:defRPr>
            </a:pPr>
            <a:r>
              <a:t>Modules + repositories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371600"/>
            <a:ext cx="3291840" cy="1097280"/>
          </a:xfrm>
          <a:prstGeom prst="roundRect">
            <a:avLst/>
          </a:prstGeom>
          <a:solidFill>
            <a:srgbClr val="18243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Project build.gradle.kts</a:t>
            </a:r>
          </a:p>
          <a:p>
            <a:pPr>
              <a:defRPr sz="1200">
                <a:solidFill>
                  <a:srgbClr val="B4BECD"/>
                </a:solidFill>
              </a:defRPr>
            </a:pPr>
            <a:r>
              <a:t>Plugin versions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371600"/>
            <a:ext cx="3291840" cy="1097280"/>
          </a:xfrm>
          <a:prstGeom prst="roundRect">
            <a:avLst/>
          </a:prstGeom>
          <a:solidFill>
            <a:srgbClr val="18243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app/build.gradle.kts</a:t>
            </a:r>
          </a:p>
          <a:p>
            <a:pPr>
              <a:defRPr sz="1200">
                <a:solidFill>
                  <a:srgbClr val="B4BECD"/>
                </a:solidFill>
              </a:defRPr>
            </a:pPr>
            <a:r>
              <a:t>Android + dependencies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3749039"/>
            <a:ext cx="3291840" cy="1097280"/>
          </a:xfrm>
          <a:prstGeom prst="roundRect">
            <a:avLst/>
          </a:prstGeom>
          <a:solidFill>
            <a:srgbClr val="18243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libs.versions.toml</a:t>
            </a:r>
          </a:p>
          <a:p>
            <a:pPr>
              <a:defRPr sz="1200">
                <a:solidFill>
                  <a:srgbClr val="B4BECD"/>
                </a:solidFill>
              </a:defRPr>
            </a:pPr>
            <a:r>
              <a:t>Centralized versions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749039"/>
            <a:ext cx="3291840" cy="1097280"/>
          </a:xfrm>
          <a:prstGeom prst="roundRect">
            <a:avLst/>
          </a:prstGeom>
          <a:solidFill>
            <a:srgbClr val="18243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Gradle Wrapper</a:t>
            </a:r>
          </a:p>
          <a:p>
            <a:pPr>
              <a:defRPr sz="1200">
                <a:solidFill>
                  <a:srgbClr val="B4BECD"/>
                </a:solidFill>
              </a:defRPr>
            </a:pPr>
            <a:r>
              <a:t>Pinned Gradle runtime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Android Build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D3EE"/>
                </a:solidFill>
              </a:defRPr>
            </a:pPr>
            <a:r>
              <a:t>What happens after you press Run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4592" y="2286000"/>
            <a:ext cx="1417320" cy="960120"/>
          </a:xfrm>
          <a:prstGeom prst="roundRect">
            <a:avLst/>
          </a:prstGeom>
          <a:solidFill>
            <a:srgbClr val="3B82F6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.kt / .java</a:t>
            </a:r>
            <a:br/>
            <a:r>
              <a:t>Source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600200" y="2578608"/>
            <a:ext cx="228600" cy="274320"/>
          </a:xfrm>
          <a:prstGeom prst="rightArrow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856232" y="2286000"/>
            <a:ext cx="1417320" cy="960120"/>
          </a:xfrm>
          <a:prstGeom prst="roundRect">
            <a:avLst/>
          </a:prstGeom>
          <a:solidFill>
            <a:srgbClr val="18243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Kotlin / Java</a:t>
            </a:r>
            <a:br/>
            <a:r>
              <a:t>Compiler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91840" y="2578608"/>
            <a:ext cx="228600" cy="274320"/>
          </a:xfrm>
          <a:prstGeom prst="rightArrow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547872" y="2286000"/>
            <a:ext cx="1417320" cy="960120"/>
          </a:xfrm>
          <a:prstGeom prst="roundRect">
            <a:avLst/>
          </a:prstGeom>
          <a:solidFill>
            <a:srgbClr val="3B82F6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JVM</a:t>
            </a:r>
            <a:br/>
            <a:r>
              <a:t>Bytecode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83480" y="2578608"/>
            <a:ext cx="228600" cy="274320"/>
          </a:xfrm>
          <a:prstGeom prst="rightArrow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239512" y="2286000"/>
            <a:ext cx="1417320" cy="960120"/>
          </a:xfrm>
          <a:prstGeom prst="roundRect">
            <a:avLst/>
          </a:prstGeom>
          <a:solidFill>
            <a:srgbClr val="18243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D8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675120" y="2578608"/>
            <a:ext cx="228600" cy="274320"/>
          </a:xfrm>
          <a:prstGeom prst="rightArrow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931152" y="2286000"/>
            <a:ext cx="1417320" cy="960120"/>
          </a:xfrm>
          <a:prstGeom prst="roundRect">
            <a:avLst/>
          </a:prstGeom>
          <a:solidFill>
            <a:srgbClr val="3B82F6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DEX</a:t>
            </a:r>
            <a:br/>
            <a:r>
              <a:t>Bytecode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366760" y="2578608"/>
            <a:ext cx="228600" cy="274320"/>
          </a:xfrm>
          <a:prstGeom prst="rightArrow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622792" y="2286000"/>
            <a:ext cx="1417320" cy="960120"/>
          </a:xfrm>
          <a:prstGeom prst="roundRect">
            <a:avLst/>
          </a:prstGeom>
          <a:solidFill>
            <a:srgbClr val="18243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APK / AAB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0058400" y="2578608"/>
            <a:ext cx="228600" cy="274320"/>
          </a:xfrm>
          <a:prstGeom prst="rightArrow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314432" y="2286000"/>
            <a:ext cx="1417320" cy="960120"/>
          </a:xfrm>
          <a:prstGeom prst="roundRect">
            <a:avLst/>
          </a:prstGeom>
          <a:solidFill>
            <a:srgbClr val="3B82F6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ART</a:t>
            </a:r>
            <a:br/>
            <a:r>
              <a:t>Runtime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D8, DEX and 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D3EE"/>
                </a:solidFill>
              </a:defRPr>
            </a:pPr>
            <a:r>
              <a:t>The runtime concepts behind Android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881360" cy="4800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F8FAFC"/>
                </a:solidFill>
              </a:defRPr>
            </a:pPr>
            <a:r>
              <a:t>• Android does not execute ordinary JVM bytecode directly as a desktop JVM application</a:t>
            </a:r>
          </a:p>
          <a:p>
            <a:pPr>
              <a:spcAft>
                <a:spcPts val="900"/>
              </a:spcAft>
              <a:defRPr sz="1700">
                <a:solidFill>
                  <a:srgbClr val="F8FAFC"/>
                </a:solidFill>
              </a:defRPr>
            </a:pPr>
            <a:r>
              <a:t>• D8 converts Java/Kotlin compiler output into Dalvik Executable (DEX) bytecode</a:t>
            </a:r>
          </a:p>
          <a:p>
            <a:pPr>
              <a:spcAft>
                <a:spcPts val="900"/>
              </a:spcAft>
              <a:defRPr sz="1700">
                <a:solidFill>
                  <a:srgbClr val="F8FAFC"/>
                </a:solidFill>
              </a:defRPr>
            </a:pPr>
            <a:r>
              <a:t>• DEX is optimized for Android's runtime and packaging model</a:t>
            </a:r>
          </a:p>
          <a:p>
            <a:pPr>
              <a:spcAft>
                <a:spcPts val="900"/>
              </a:spcAft>
              <a:defRPr sz="1700">
                <a:solidFill>
                  <a:srgbClr val="F8FAFC"/>
                </a:solidFill>
              </a:defRPr>
            </a:pPr>
            <a:r>
              <a:t>• ART (Android Runtime) executes application DEX code</a:t>
            </a:r>
          </a:p>
          <a:p>
            <a:pPr>
              <a:spcAft>
                <a:spcPts val="900"/>
              </a:spcAft>
              <a:defRPr sz="1700">
                <a:solidFill>
                  <a:srgbClr val="F8FAFC"/>
                </a:solidFill>
              </a:defRPr>
            </a:pPr>
            <a:r>
              <a:t>• ART uses runtime and ahead-of-time optimization strategies depending on device/platform behavior</a:t>
            </a:r>
          </a:p>
          <a:p>
            <a:pPr>
              <a:spcAft>
                <a:spcPts val="900"/>
              </a:spcAft>
              <a:defRPr sz="1700">
                <a:solidFill>
                  <a:srgbClr val="F8FAFC"/>
                </a:solidFill>
              </a:defRPr>
            </a:pPr>
            <a:r>
              <a:t>• Understanding this path helps explain multidex, shrinking, startup and runtime behavior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Activity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D3EE"/>
                </a:solidFill>
              </a:defRPr>
            </a:pPr>
            <a:r>
              <a:t>The state machine every Android developer must understand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2331720"/>
            <a:ext cx="1417320" cy="822960"/>
          </a:xfrm>
          <a:prstGeom prst="roundRect">
            <a:avLst/>
          </a:prstGeom>
          <a:solidFill>
            <a:srgbClr val="18243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onCreate()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627632" y="2596896"/>
            <a:ext cx="237744" cy="274320"/>
          </a:xfrm>
          <a:prstGeom prst="rightArrow">
            <a:avLst/>
          </a:prstGeom>
          <a:solidFill>
            <a:srgbClr val="B4BECD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874520" y="2331720"/>
            <a:ext cx="1417320" cy="822960"/>
          </a:xfrm>
          <a:prstGeom prst="roundRect">
            <a:avLst/>
          </a:prstGeom>
          <a:solidFill>
            <a:srgbClr val="18243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onStart()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319272" y="2596896"/>
            <a:ext cx="237744" cy="274320"/>
          </a:xfrm>
          <a:prstGeom prst="rightArrow">
            <a:avLst/>
          </a:prstGeom>
          <a:solidFill>
            <a:srgbClr val="B4BECD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566160" y="2331720"/>
            <a:ext cx="1417320" cy="822960"/>
          </a:xfrm>
          <a:prstGeom prst="roundRect">
            <a:avLst/>
          </a:prstGeom>
          <a:solidFill>
            <a:srgbClr val="18243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onResume()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010912" y="2596896"/>
            <a:ext cx="237744" cy="274320"/>
          </a:xfrm>
          <a:prstGeom prst="rightArrow">
            <a:avLst/>
          </a:prstGeom>
          <a:solidFill>
            <a:srgbClr val="B4BECD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257800" y="2331720"/>
            <a:ext cx="1417320" cy="822960"/>
          </a:xfrm>
          <a:prstGeom prst="round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RUNNING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702552" y="2596896"/>
            <a:ext cx="237744" cy="274320"/>
          </a:xfrm>
          <a:prstGeom prst="rightArrow">
            <a:avLst/>
          </a:prstGeom>
          <a:solidFill>
            <a:srgbClr val="B4BECD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949440" y="2331720"/>
            <a:ext cx="1417320" cy="822960"/>
          </a:xfrm>
          <a:prstGeom prst="roundRect">
            <a:avLst/>
          </a:prstGeom>
          <a:solidFill>
            <a:srgbClr val="18243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onPause()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394192" y="2596896"/>
            <a:ext cx="237744" cy="274320"/>
          </a:xfrm>
          <a:prstGeom prst="rightArrow">
            <a:avLst/>
          </a:prstGeom>
          <a:solidFill>
            <a:srgbClr val="B4BECD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641080" y="2331720"/>
            <a:ext cx="1417320" cy="822960"/>
          </a:xfrm>
          <a:prstGeom prst="roundRect">
            <a:avLst/>
          </a:prstGeom>
          <a:solidFill>
            <a:srgbClr val="18243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onStop()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0085832" y="2596896"/>
            <a:ext cx="237744" cy="274320"/>
          </a:xfrm>
          <a:prstGeom prst="rightArrow">
            <a:avLst/>
          </a:prstGeom>
          <a:solidFill>
            <a:srgbClr val="B4BECD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332719" y="2331720"/>
            <a:ext cx="1417320" cy="822960"/>
          </a:xfrm>
          <a:prstGeom prst="roundRect">
            <a:avLst/>
          </a:prstGeom>
          <a:solidFill>
            <a:srgbClr val="18243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onDestroy()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Live Coding — Trace the Activity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D3EE"/>
                </a:solidFill>
              </a:defRPr>
            </a:pPr>
            <a:r>
              <a:t>Watch callbacks in Logcat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6766560" cy="4983480"/>
          </a:xfrm>
          <a:prstGeom prst="roundRect">
            <a:avLst/>
          </a:prstGeom>
          <a:solidFill>
            <a:srgbClr val="030712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8FAFC"/>
                </a:solidFill>
                <a:latin typeface="Consolas"/>
              </a:defRPr>
            </a:pPr>
            <a:r>
              <a:t>class MainActivity : ComponentActivity() {</a:t>
            </a:r>
            <a:br/>
            <a:br/>
            <a:r>
              <a:t>    override fun onCreate(savedInstanceState: Bundle?) {</a:t>
            </a:r>
            <a:br/>
            <a:r>
              <a:t>        super.onCreate(savedInstanceState)</a:t>
            </a:r>
            <a:br/>
            <a:r>
              <a:t>        Log.d("Lifecycle", "onCreate")</a:t>
            </a:r>
            <a:br/>
            <a:r>
              <a:t>    }</a:t>
            </a:r>
            <a:br/>
            <a:br/>
            <a:r>
              <a:t>    override fun onStart() {</a:t>
            </a:r>
            <a:br/>
            <a:r>
              <a:t>        super.onStart()</a:t>
            </a:r>
            <a:br/>
            <a:r>
              <a:t>        Log.d("Lifecycle", "onStart")</a:t>
            </a:r>
            <a:br/>
            <a:r>
              <a:t>    }</a:t>
            </a:r>
            <a:br/>
            <a:br/>
            <a:r>
              <a:t>    override fun onResume() {</a:t>
            </a:r>
            <a:br/>
            <a:r>
              <a:t>        super.onResume()</a:t>
            </a:r>
            <a:br/>
            <a:r>
              <a:t>        Log.d("Lifecycle", "onResume")</a:t>
            </a:r>
            <a:br/>
            <a:r>
              <a:t>    }</a:t>
            </a:r>
            <a:br/>
            <a:br/>
            <a:r>
              <a:t>    override fun onPause() {</a:t>
            </a:r>
            <a:br/>
            <a:r>
              <a:t>        Log.d("Lifecycle", "onPause")</a:t>
            </a:r>
            <a:br/>
            <a:r>
              <a:t>        super.onPause()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325880"/>
            <a:ext cx="4069080" cy="4983480"/>
          </a:xfrm>
          <a:prstGeom prst="roundRect">
            <a:avLst/>
          </a:prstGeom>
          <a:solidFill>
            <a:srgbClr val="18243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Launch the app and observe callback order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Press Home and inspect pause/stop behavior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Return to the app and observe restart/start/resume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Rotate the device and discuss configuration changes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Use one consistent Logcat tag for tracing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1676</TotalTime>
  <Words>876</Words>
  <Application>Microsoft Office PowerPoint</Application>
  <PresentationFormat>Widescreen</PresentationFormat>
  <Paragraphs>122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MODERN ANDROID DEVELOPMENT – 6 DAYS WORKSHOP </vt:lpstr>
      <vt:lpstr>TRAINER- TANISHQ SATSANGI </vt:lpstr>
      <vt:lpstr>TRAINER- TANISHQ SATSANGI </vt:lpstr>
      <vt:lpstr>TRAINER- TANISHQ SATSANGI </vt:lpstr>
      <vt:lpstr>TRAINER- TANISHQ SATSANGI </vt:lpstr>
      <vt:lpstr>TRAINER- TANISHQ SATSANGI </vt:lpstr>
      <vt:lpstr>PowerPoint Presentation</vt:lpstr>
      <vt:lpstr>What Is Android?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TANISHQ SATSANGI</cp:lastModifiedBy>
  <cp:revision>5</cp:revision>
  <dcterms:created xsi:type="dcterms:W3CDTF">2013-01-27T09:14:16Z</dcterms:created>
  <dcterms:modified xsi:type="dcterms:W3CDTF">2026-07-27T16:41:20Z</dcterms:modified>
  <cp:category/>
</cp:coreProperties>
</file>